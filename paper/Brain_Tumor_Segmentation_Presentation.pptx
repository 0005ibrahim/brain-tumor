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0"/>
            <a:ext cx="8778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Department of Information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8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i="0">
                <a:solidFill>
                  <a:srgbClr val="222222"/>
                </a:solidFill>
                <a:latin typeface="Georgia"/>
              </a:rPr>
              <a:t>Brain Tumor Segmentation Using a 3D U-Net (BraTS2020)</a:t>
            </a:r>
          </a:p>
          <a:p>
            <a:pPr algn="ctr"/>
            <a:r>
              <a:rPr sz="1700" b="0" i="1">
                <a:solidFill>
                  <a:srgbClr val="555555"/>
                </a:solidFill>
                <a:latin typeface="Calibri"/>
              </a:rPr>
              <a:t>A controlled ablation of normalization &amp; augmentation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  <a:latin typeface="Georgia"/>
              </a:rPr>
              <a:t>Submitted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291840"/>
            <a:ext cx="6126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Harshit Anand    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Roll.no-2300970130056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Khushi Saraswat    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Roll.no-2300970130069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Md. Ibrahim Alam    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Roll.no-2400970139004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222222"/>
                </a:solidFill>
                <a:latin typeface="Georgia"/>
              </a:rPr>
              <a:t>Submitted to:</a:t>
            </a:r>
          </a:p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Mr. Prateek Pandey</a:t>
            </a:r>
          </a:p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Department of Information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Table of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Introduction &amp; Motivation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Problem Statement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Objectives of the Project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Literature Review / Existing Systems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Proposed System / Approach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Implementation Details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Evaluation &amp; Expected Results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Justification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Conclusion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❑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Brain tumors (gliomas) are abnormal growths that disrupt neurological function and are life-threatening if not detected early.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MRI is the standard imaging tool, but manual tumor segmentation is slow, expert-dependent, and varies between radiologists.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Deep learning — especially the U-Net architecture — can automatically delineate tumor regions voxel-by-voxel in 3D.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Motivation: build an accurate, reproducible 3D segmentation system and go further — systematically test which preprocessing and augmentation choices actually improve it, rather than assuming defaults.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Tumors vary widely in size, shape, and location; small or irregular ones are easily missed.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MRI intensities are not standardized — the same tissue looks different across scanners, so preprocessing choices strongly affect results.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The tumor is under 5% of all voxels (severe class imbalance) — a naive model predicts “all healthy” and still scores high on accuracy.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Most projects fix one preprocessing recipe and never test alternatives — there is no controlled comparison of which choices help. This project addresses that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Develop an automated 3D U-Net system for multimodal MRI tumor segmentation on BraTS2020.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Compare 4 intensity-normalization strategies (z-score, percentile-clip, WhiteStripe, hybrid) — ablation axis 1.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Compare augmentation strategies, including an original tumor-aware CutMix targeting class imbalance — ablation axis 2.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Evaluate with clinically standard metrics: Dice, Sensitivity, Specificity, and HD95, reported per region (WT / TC / ET).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Ensure a leak-free, reproducible evaluation (patient-level split, fixed seeds).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U-Net (Ronneberger, 2015) and 3D U-Net (Çiçek, 2016) set the standard for medical segmentation via encoder–decoder + skip connections.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V-Net (Milletari, 2016) introduced Dice loss to handle foreground/background imbalance in medical volumes.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nnU-Net (Isensee, 2021) showed that careful configuration (preprocessing, augmentation) often matters more than architecture — motivating our ablation focus.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CutMix (Yun, 2019) mixes image regions for regularization, but random box placement is ineffective when the target class is tiny — which our tumor-aware variant fixes.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BraTS (Menze 2015; Baid 2021) is the benchmark; small-tumor detection and boundary precision remain open challenges.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 PyTorch 3D U-Net segments tumors from the 4 co-registered MRI modalities (FLAIR, T1, T1ce, T2) stacked as input channels.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MRI volumes are normalized over brain voxels only (one of 4 strategies under test) and augmented before training.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encoder–decoder with skip connections predicts a 4-class 3D mask (background + 3 tumor sub-regions).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 Dice + Cross-Entropy loss combats class imbalance; full volumes are segmented via sliding-window inference.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Two novel contributions: (1) a controlled normalization ablation, and (2) tumor-aware CutMix, which grafts a real tumor region into every mixed sample.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9487" y="2468880"/>
            <a:ext cx="1600200" cy="1097280"/>
          </a:xfrm>
          <a:prstGeom prst="round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4-modality
MRI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9687" y="2926080"/>
            <a:ext cx="146304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75991" y="2468880"/>
            <a:ext cx="1600200" cy="1097280"/>
          </a:xfrm>
          <a:prstGeom prst="roundRect">
            <a:avLst/>
          </a:prstGeom>
          <a:solidFill>
            <a:srgbClr val="8B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Brain-masked
Normalization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76191" y="2926080"/>
            <a:ext cx="146304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2495" y="2468880"/>
            <a:ext cx="1600200" cy="1097280"/>
          </a:xfrm>
          <a:prstGeom prst="round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Augmentation
(+ tumor-aware
CutMix)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2695" y="2926080"/>
            <a:ext cx="146304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8999" y="2468880"/>
            <a:ext cx="1600200" cy="1097280"/>
          </a:xfrm>
          <a:prstGeom prst="roundRect">
            <a:avLst/>
          </a:prstGeom>
          <a:solidFill>
            <a:srgbClr val="8B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3D U-Net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69199" y="2926080"/>
            <a:ext cx="146304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5503" y="2468880"/>
            <a:ext cx="1600200" cy="1097280"/>
          </a:xfrm>
          <a:prstGeom prst="round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Sliding-window
Inference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15703" y="2926080"/>
            <a:ext cx="146304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62007" y="2468880"/>
            <a:ext cx="1600200" cy="1097280"/>
          </a:xfrm>
          <a:prstGeom prst="roundRect">
            <a:avLst/>
          </a:prstGeom>
          <a:solidFill>
            <a:srgbClr val="8B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WT / TC / ET
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Patch-based 3D pipeline; full volumes reconstructed at inference by sliding-window stitching, then scored with Dice / HD95.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Implementation &amp; Model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Data: 369 BraTS2020 patients from NIfTI; 4 modalities stacked into a 4-channel 3D volume.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Preprocessing: brain-masked intensity normalization (4 strategies compared).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Split: patient-level train/validation split — prevents leakage between adjacent slices.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Model: 3D U-Net with instance normalization (reliable at batch size 1–2) and skip connections.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Training: patch-based (96³), Dice+CE loss, mixed precision, gradient accumulation, cosine LR, early stopping.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Augmentation: flips / rotations / elastic + gamma / bias-field / noise, plus tumor-aware CutMix.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Inference: Gaussian-weighted sliding window over full volumes.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Model Validation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After training, the model is tested on a held-out set of unseen patients.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Predicted masks are compared to the dataset's ground-truth annotations.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Metrics, reported per region (WT / TC / ET): Dice (overlap), Sensitivity (missed tumor), Specificity (false alarms), HD95 (boundary accuracy).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Why not accuracy? With &lt;5% tumor voxels, accuracy is misleading — Dice and HD95 are the meaningful measures.</a:t>
            </a:r>
          </a:p>
          <a:p>
            <a:pPr>
              <a:spcAft>
                <a:spcPts val="1200"/>
              </a:spcAft>
            </a:pPr>
            <a:r>
              <a:rPr sz="1700" b="0" i="1">
                <a:solidFill>
                  <a:srgbClr val="222222"/>
                </a:solidFill>
                <a:latin typeface="Calibri"/>
              </a:rPr>
              <a:t>•  Target from BraTS literature: WT Dice ≈ 0.85–0.90 — actual results pending our experiments.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69847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692331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B0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Justification</a:t>
                      </a:r>
                    </a:p>
                  </a:txBody>
                  <a:tcPr>
                    <a:solidFill>
                      <a:srgbClr val="B03A3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2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3D U-Net captures volumetric tumor context for precise segmentation.</a:t>
                      </a:r>
                    </a:p>
                  </a:txBody>
                  <a:tcPr>
                    <a:solidFill>
                      <a:srgbClr val="F2E9E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Removes slow, manual slice-by-slice annotation.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Early Detection</a:t>
                      </a:r>
                    </a:p>
                  </a:txBody>
                  <a:tcPr>
                    <a:solidFill>
                      <a:srgbClr val="F2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Reliable segmentation supports earlier treatment planning.</a:t>
                      </a:r>
                    </a:p>
                  </a:txBody>
                  <a:tcPr>
                    <a:solidFill>
                      <a:srgbClr val="F2E9E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Segments a full volume in seconds vs. minutes manually.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>
                    <a:solidFill>
                      <a:srgbClr val="F2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Fixed seeds + patient-level split + committed results ensure verifiable claims.</a:t>
                      </a:r>
                    </a:p>
                  </a:txBody>
                  <a:tcPr>
                    <a:solidFill>
                      <a:srgbClr val="F2E9E9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Rigor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Validated with Dice, Sensitivity, Specificity, HD95 — not just accuracy.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We built a PyTorch 3D U-Net pipeline for BraTS2020 with a controlled two-axis ablation and an original tumor-aware CutMix augmentation.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framework produces leak-free, reproducible per-region metrics (Dice, Sensitivity, Specificity, HD95).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Expected performance (from BraTS literature, to be confirmed): WT Dice ≈ 0.85–0.90, lower for the smaller TC / ET regions.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•  Key highlights: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Modular, config-driven pipeline; every result traceable to a saved experiment file.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Novel tumor-aware CutMix directly targets the dataset's class imbalance.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Ablation will identify which normalization and augmentation choices genuinely help.</a:t>
            </a:r>
          </a:p>
          <a:p>
            <a:pPr>
              <a:spcAft>
                <a:spcPts val="900"/>
              </a:spcAft>
            </a:pPr>
            <a:r>
              <a:rPr sz="1600" b="0" i="1">
                <a:solidFill>
                  <a:srgbClr val="222222"/>
                </a:solidFill>
                <a:latin typeface="Calibri"/>
              </a:rPr>
              <a:t>•  Actual Dice / HD95 numbers will be reported once the ablation runs complete.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GALGOTIAS</a:t>
            </a:r>
          </a:p>
          <a:p>
            <a:r>
              <a:rPr sz="700" b="0" i="0">
                <a:solidFill>
                  <a:srgbClr val="FFFFFF"/>
                </a:solidFill>
                <a:latin typeface="Calibri"/>
              </a:rPr>
              <a:t>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0"/>
            <a:ext cx="877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1.  Menze, B. H., et al. (2015). The Multimodal Brain Tumor Image Segmentation Benchmark (BraTS). IEEE TMI.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2.  Baid, U., et al. (2021). The RSNA-ASNR-MICCAI BraTS 2021 Benchmark. arXiv:2107.02314.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3.  Brain Tumor Segmentation Challenge (BraTS). braintumorsegmentation.org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4.  Isensee, F., et al. (2021). nnU-Net: A Self-configuring Method for Biomedical Image Segmentation. Nature Methods.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5.  Ronneberger, O., Fischer, P., Brox, T. (2015). U-Net. MICCAI. arXiv:1505.04597.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6.  Çiçek, Ö., et al. (2016). 3D U-Net. MICCAI. arXiv:1606.06650.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7.  Milletari, F., Navab, N., Ahmadi, S. (2016). V-Net (Dice loss). 3DV. arXiv:1606.04797.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8.  Yun, S., et al. (2019). CutMix. ICCV. arXiv:1905.04899.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